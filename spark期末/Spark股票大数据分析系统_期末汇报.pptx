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8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5981" y="1767170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 err="1"/>
              <a:t>Spark股票大数据分析系统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1496" y="274638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 err="1"/>
              <a:t>目录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8" y="1600200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1. </a:t>
            </a:r>
            <a:r>
              <a:rPr dirty="0" err="1"/>
              <a:t>项目概述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2. </a:t>
            </a:r>
            <a:r>
              <a:rPr dirty="0" err="1"/>
              <a:t>技术架构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3. </a:t>
            </a:r>
            <a:r>
              <a:rPr dirty="0" err="1"/>
              <a:t>核心功能模块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4. </a:t>
            </a:r>
            <a:r>
              <a:rPr dirty="0" err="1"/>
              <a:t>数据库设计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5. </a:t>
            </a:r>
            <a:r>
              <a:rPr dirty="0" err="1"/>
              <a:t>数据分析流程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6. </a:t>
            </a:r>
            <a:r>
              <a:rPr dirty="0" err="1"/>
              <a:t>Web可视化系统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7. </a:t>
            </a:r>
            <a:r>
              <a:rPr dirty="0" err="1"/>
              <a:t>项目特色与亮点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8. </a:t>
            </a:r>
            <a:r>
              <a:rPr dirty="0" err="1"/>
              <a:t>遇到的问题及解决方案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647" y="279645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1. </a:t>
            </a:r>
            <a:r>
              <a:rPr dirty="0" err="1"/>
              <a:t>项目概述</a:t>
            </a:r>
            <a:r>
              <a:rPr dirty="0"/>
              <a:t> - </a:t>
            </a:r>
            <a:r>
              <a:rPr dirty="0" err="1"/>
              <a:t>开发环境与技术栈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开发环境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Python 3.10.1+</a:t>
            </a:r>
          </a:p>
          <a:p>
            <a:pPr>
              <a:spcBef>
                <a:spcPts val="400"/>
              </a:spcBef>
              <a:defRPr sz="1800"/>
            </a:pPr>
            <a:r>
              <a:rPr dirty="0" err="1"/>
              <a:t>PySpark</a:t>
            </a:r>
            <a:r>
              <a:rPr dirty="0"/>
              <a:t> 3.4.0+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MySQL 8.0+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Flask 2.3+</a:t>
            </a:r>
          </a:p>
          <a:p>
            <a:pPr>
              <a:spcBef>
                <a:spcPts val="400"/>
              </a:spcBef>
              <a:defRPr sz="1800"/>
            </a:pPr>
            <a:r>
              <a:rPr dirty="0" err="1"/>
              <a:t>开发工具：PyCharm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操作系统：Windows</a:t>
            </a:r>
            <a:r>
              <a:rPr dirty="0"/>
              <a:t> 25H2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技术栈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数据采集：Tampermonkey</a:t>
            </a:r>
            <a:r>
              <a:rPr dirty="0"/>
              <a:t> + JavaScript</a:t>
            </a:r>
          </a:p>
          <a:p>
            <a:pPr>
              <a:spcBef>
                <a:spcPts val="400"/>
              </a:spcBef>
              <a:defRPr sz="1800"/>
            </a:pPr>
            <a:r>
              <a:rPr dirty="0" err="1"/>
              <a:t>大数据处理：PySpark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数据存储：MySQL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数据分析：Pandas</a:t>
            </a:r>
            <a:r>
              <a:rPr dirty="0"/>
              <a:t> + </a:t>
            </a:r>
            <a:r>
              <a:rPr dirty="0" err="1"/>
              <a:t>PySpark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Web框架：Flask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可视化：ECharts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技术架构 - 整体设计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五层架构设计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① 数据采集层：Tampermonkey油猴脚本 + 东方财富网API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② 数据预处理层：Pandas清洗、转换、特征工程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③ Spark分析层：趋势分析、波动性分析、量价关系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④ 数据存储层：MySQL数据库（股票走势分析表+用户数据表）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⑤ Web应用层：Flask后端 + ECharts前端可视化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架构优势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模块化设计，职责清晰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分布式计算，性能优异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前后端分离，易于扩展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核心功能模块 - 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主要模块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📁 spider/ - 爬虫模块（油猴脚本 + JSON导入）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📁 data_processing/ - 数据处理模块（清洗、转换、特征工程）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📁 analysis/ - Spark分析模块（5大分析维度）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📁 database/ - 数据库管理模块（连接、查询、保存）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📁 web_app/ - Web应用模块（Flask + HTML模板）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配置文件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config.py - 数据库配置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main.py - 主程序入口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requirements.txt - Python依赖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核心功能 - 数据采集模块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技术优势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技术方案：Tampermonkey油猴脚本</a:t>
            </a:r>
            <a:endParaRPr dirty="0"/>
          </a:p>
          <a:p>
            <a:pPr>
              <a:spcBef>
                <a:spcPts val="400"/>
              </a:spcBef>
              <a:defRPr sz="1800"/>
            </a:pP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核心优势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✓ </a:t>
            </a:r>
            <a:r>
              <a:rPr dirty="0" err="1"/>
              <a:t>绕过反爬机制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✓ </a:t>
            </a:r>
            <a:r>
              <a:rPr dirty="0" err="1"/>
              <a:t>浏览器原生支持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✓ </a:t>
            </a:r>
            <a:r>
              <a:rPr dirty="0" err="1"/>
              <a:t>支持断点续传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✓ </a:t>
            </a:r>
            <a:r>
              <a:rPr dirty="0" err="1"/>
              <a:t>用户友好，一键抓取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功能特性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主要功能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自动拦截东方财富网API请求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实时显示抓取进度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支持JSON格式导出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本地存储缓存机制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自适应延迟避免频繁请求</a:t>
            </a:r>
            <a:endParaRPr dirty="0"/>
          </a:p>
          <a:p>
            <a:pPr>
              <a:spcBef>
                <a:spcPts val="400"/>
              </a:spcBef>
              <a:defRPr sz="1800"/>
            </a:pP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数据流向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 err="1"/>
              <a:t>东方财富API</a:t>
            </a:r>
            <a:r>
              <a:rPr dirty="0"/>
              <a:t> → </a:t>
            </a:r>
            <a:r>
              <a:rPr dirty="0" err="1"/>
              <a:t>油猴脚本</a:t>
            </a:r>
            <a:r>
              <a:rPr dirty="0"/>
              <a:t> → </a:t>
            </a:r>
            <a:r>
              <a:rPr dirty="0" err="1"/>
              <a:t>JSON文件</a:t>
            </a:r>
            <a:r>
              <a:rPr dirty="0"/>
              <a:t> → </a:t>
            </a:r>
            <a:r>
              <a:rPr dirty="0" err="1"/>
              <a:t>Pandas加载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核心功能 - 数据预处理模块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数据清洗流程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原始数据</a:t>
            </a:r>
            <a:r>
              <a:rPr dirty="0"/>
              <a:t> → </a:t>
            </a:r>
            <a:r>
              <a:rPr dirty="0" err="1"/>
              <a:t>去重</a:t>
            </a:r>
            <a:r>
              <a:rPr dirty="0"/>
              <a:t> → </a:t>
            </a:r>
            <a:r>
              <a:rPr dirty="0" err="1"/>
              <a:t>缺失值处理</a:t>
            </a:r>
            <a:r>
              <a:rPr dirty="0"/>
              <a:t> → </a:t>
            </a:r>
            <a:r>
              <a:rPr dirty="0" err="1"/>
              <a:t>异常值处理</a:t>
            </a:r>
            <a:r>
              <a:rPr dirty="0"/>
              <a:t> → </a:t>
            </a:r>
            <a:r>
              <a:rPr dirty="0" err="1"/>
              <a:t>类型转换</a:t>
            </a:r>
            <a:r>
              <a:rPr dirty="0"/>
              <a:t> → </a:t>
            </a:r>
            <a:r>
              <a:rPr dirty="0" err="1"/>
              <a:t>删除无效数据</a:t>
            </a:r>
            <a:r>
              <a:rPr dirty="0"/>
              <a:t> → </a:t>
            </a:r>
            <a:r>
              <a:rPr dirty="0" err="1"/>
              <a:t>特征工程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关键处理步骤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1. </a:t>
            </a:r>
            <a:r>
              <a:rPr dirty="0" err="1"/>
              <a:t>数据去重：删除完全重复的记录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2. </a:t>
            </a:r>
            <a:r>
              <a:rPr dirty="0" err="1"/>
              <a:t>缺失值处理：数值列用中位数填充，日期列删除缺失行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3. </a:t>
            </a:r>
            <a:r>
              <a:rPr dirty="0" err="1"/>
              <a:t>异常值处理：使用IQR方法修正异常值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4. </a:t>
            </a:r>
            <a:r>
              <a:rPr dirty="0" err="1"/>
              <a:t>数据类型转换：确保日期、数值列类型正确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5. </a:t>
            </a:r>
            <a:r>
              <a:rPr dirty="0" err="1"/>
              <a:t>特征工程：计算涨跌幅、价格波动、振幅、移动平均线等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核心功能 - Spark数据分析模块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五大分析维度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① 基础统计分析：记录数、股票数量、价格统计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② 趋势分析：MA5/MA10/MA20移动平均线、价格动量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③ 波动性分析：日收益率、年化波动率、风险指标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④ 量价关系分析：成交量与价格的相关性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⑤ 股票排名：按涨跌幅、成交量等指标排名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t>核心技术：Spark窗口函数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Window.partitionBy('股票代码').orderBy('日期')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4. </a:t>
            </a:r>
            <a:r>
              <a:rPr dirty="0" err="1"/>
              <a:t>数据库设计</a:t>
            </a:r>
            <a:r>
              <a:rPr dirty="0"/>
              <a:t> - </a:t>
            </a:r>
            <a:r>
              <a:rPr dirty="0" err="1"/>
              <a:t>核心数据表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10" y="865558"/>
            <a:ext cx="11277600" cy="5737224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股票走势分析表（主表</a:t>
            </a:r>
            <a:r>
              <a:rPr dirty="0"/>
              <a:t>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20个字段：日期、股票代码、开高低收、成交量、技术指标等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包含MA5/MA10/MA20、VOL_MA5、Momentum_5等技术指标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用户数据表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用户名唯一索引，密码加密存储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记录注册时间、最后登录时间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用户搜索记录表（动态创建</a:t>
            </a:r>
            <a:r>
              <a:rPr dirty="0"/>
              <a:t>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命名规则：用户</a:t>
            </a:r>
            <a:r>
              <a:rPr dirty="0"/>
              <a:t>_{</a:t>
            </a:r>
            <a:r>
              <a:rPr dirty="0" err="1"/>
              <a:t>用户名</a:t>
            </a:r>
            <a:r>
              <a:rPr dirty="0"/>
              <a:t>}_</a:t>
            </a:r>
            <a:r>
              <a:rPr dirty="0" err="1"/>
              <a:t>搜索记录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管理端登录日志表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记录登录时间、IP地址、登录状态、失败原因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1392" y="261177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5. </a:t>
            </a:r>
            <a:r>
              <a:rPr dirty="0" err="1"/>
              <a:t>数据分析流程</a:t>
            </a:r>
            <a:r>
              <a:rPr dirty="0"/>
              <a:t> - </a:t>
            </a:r>
            <a:r>
              <a:rPr dirty="0" err="1"/>
              <a:t>完整流水线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98" y="704589"/>
            <a:ext cx="11615802" cy="615341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六步处理流程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1: </a:t>
            </a:r>
            <a:r>
              <a:rPr dirty="0" err="1"/>
              <a:t>初始化数据库</a:t>
            </a:r>
            <a:r>
              <a:rPr dirty="0"/>
              <a:t> → </a:t>
            </a:r>
            <a:r>
              <a:rPr dirty="0" err="1"/>
              <a:t>创建数据库和表结构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2: </a:t>
            </a:r>
            <a:r>
              <a:rPr dirty="0" err="1"/>
              <a:t>数据采集</a:t>
            </a:r>
            <a:r>
              <a:rPr dirty="0"/>
              <a:t> → </a:t>
            </a:r>
            <a:r>
              <a:rPr dirty="0" err="1"/>
              <a:t>油猴脚本导出JSON数据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3: </a:t>
            </a:r>
            <a:r>
              <a:rPr dirty="0" err="1"/>
              <a:t>数据预处理</a:t>
            </a:r>
            <a:r>
              <a:rPr dirty="0"/>
              <a:t> → </a:t>
            </a:r>
            <a:r>
              <a:rPr dirty="0" err="1"/>
              <a:t>清洗、转换、特征工程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4: </a:t>
            </a:r>
            <a:r>
              <a:rPr dirty="0" err="1"/>
              <a:t>Spark分析</a:t>
            </a:r>
            <a:r>
              <a:rPr dirty="0"/>
              <a:t> → </a:t>
            </a:r>
            <a:r>
              <a:rPr dirty="0" err="1"/>
              <a:t>多维度技术分析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5: </a:t>
            </a:r>
            <a:r>
              <a:rPr dirty="0" err="1"/>
              <a:t>保存到数据库</a:t>
            </a:r>
            <a:r>
              <a:rPr dirty="0"/>
              <a:t> → </a:t>
            </a:r>
            <a:r>
              <a:rPr dirty="0" err="1"/>
              <a:t>MySQL持久化存储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Step 6: </a:t>
            </a:r>
            <a:r>
              <a:rPr dirty="0" err="1"/>
              <a:t>生成报告</a:t>
            </a:r>
            <a:r>
              <a:rPr dirty="0"/>
              <a:t> → </a:t>
            </a:r>
            <a:r>
              <a:rPr dirty="0" err="1"/>
              <a:t>数据统计和分析报告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关键技术点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Pandas </a:t>
            </a:r>
            <a:r>
              <a:rPr dirty="0" err="1"/>
              <a:t>DataFrame</a:t>
            </a:r>
            <a:r>
              <a:rPr dirty="0"/>
              <a:t> ↔ Spark </a:t>
            </a:r>
            <a:r>
              <a:rPr dirty="0" err="1"/>
              <a:t>DataFrame</a:t>
            </a:r>
            <a:r>
              <a:rPr dirty="0"/>
              <a:t> </a:t>
            </a:r>
            <a:r>
              <a:rPr dirty="0" err="1"/>
              <a:t>转换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SQLAlchemy</a:t>
            </a:r>
            <a:r>
              <a:rPr dirty="0"/>
              <a:t> ORM </a:t>
            </a:r>
            <a:r>
              <a:rPr dirty="0" err="1"/>
              <a:t>数据库操作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参数化查询防止SQL注入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016" y="274638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6. </a:t>
            </a:r>
            <a:r>
              <a:rPr dirty="0" err="1"/>
              <a:t>Web可视化系统</a:t>
            </a:r>
            <a:r>
              <a:rPr dirty="0"/>
              <a:t> - </a:t>
            </a:r>
            <a:r>
              <a:rPr dirty="0" err="1"/>
              <a:t>功能模块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75" y="1011477"/>
            <a:ext cx="9876774" cy="511375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功能模块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用户端功能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用户注册</a:t>
            </a:r>
            <a:r>
              <a:rPr dirty="0"/>
              <a:t>/</a:t>
            </a:r>
            <a:r>
              <a:rPr dirty="0" err="1"/>
              <a:t>登录（密码加密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股票搜索（代码</a:t>
            </a:r>
            <a:r>
              <a:rPr dirty="0"/>
              <a:t>/</a:t>
            </a:r>
            <a:r>
              <a:rPr dirty="0" err="1"/>
              <a:t>名称模糊搜索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数据可视化（K线图、均线、成交量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个人中心（资料修改、密码修改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搜索历史记录（独立表存储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管理端功能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管理员登录（日志审计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用户管理（查看、搜索、删除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数据管理（更新、删除记录</a:t>
            </a:r>
            <a:r>
              <a:rPr dirty="0"/>
              <a:t>）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安全审计（登录日志、IP追踪</a:t>
            </a:r>
            <a:r>
              <a:rPr dirty="0"/>
              <a:t>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3290" y="1011477"/>
            <a:ext cx="4508326" cy="626081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rPr dirty="0" err="1"/>
              <a:t>技术实现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核心技术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Flask </a:t>
            </a:r>
            <a:r>
              <a:rPr dirty="0" err="1"/>
              <a:t>Web框架</a:t>
            </a:r>
            <a:r>
              <a:rPr lang="en-US" dirty="0"/>
              <a:t>                                     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Session会话管理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RESTful </a:t>
            </a:r>
            <a:r>
              <a:rPr dirty="0" err="1"/>
              <a:t>API设计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ECharts图表库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AJAX异步请求</a:t>
            </a:r>
            <a:endParaRPr dirty="0"/>
          </a:p>
          <a:p>
            <a:pPr>
              <a:spcBef>
                <a:spcPts val="400"/>
              </a:spcBef>
              <a:defRPr sz="1800"/>
            </a:pP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 err="1"/>
              <a:t>API接口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800"/>
            </a:pPr>
            <a:r>
              <a:rPr dirty="0"/>
              <a:t>• 15+ </a:t>
            </a:r>
            <a:r>
              <a:rPr dirty="0" err="1"/>
              <a:t>RESTful接口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用户认证接口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数据查询接口</a:t>
            </a:r>
            <a:endParaRPr dirty="0"/>
          </a:p>
          <a:p>
            <a:pPr>
              <a:spcBef>
                <a:spcPts val="400"/>
              </a:spcBef>
              <a:defRPr sz="1800"/>
            </a:pPr>
            <a:r>
              <a:rPr dirty="0"/>
              <a:t>• </a:t>
            </a:r>
            <a:r>
              <a:rPr dirty="0" err="1"/>
              <a:t>管理操作接口</a:t>
            </a:r>
            <a:endParaRPr dirty="0"/>
          </a:p>
          <a:p>
            <a:pPr marL="0" indent="0">
              <a:spcBef>
                <a:spcPts val="400"/>
              </a:spcBef>
              <a:buNone/>
              <a:defRPr sz="1800"/>
            </a:pPr>
            <a:r>
              <a:rPr lang="zh-CN" altLang="en-US" dirty="0"/>
              <a:t>    </a:t>
            </a:r>
            <a:endParaRPr lang="en-US" altLang="zh-CN" dirty="0"/>
          </a:p>
          <a:p>
            <a:pPr marL="0" indent="0">
              <a:spcBef>
                <a:spcPts val="400"/>
              </a:spcBef>
              <a:buNone/>
              <a:defRPr sz="1800"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017" y="286229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7. </a:t>
            </a:r>
            <a:r>
              <a:rPr dirty="0" err="1"/>
              <a:t>项目特色与亮点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35904"/>
            <a:ext cx="10866329" cy="600309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技术创新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油猴脚本数据采集：创新性地绕过反爬机制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Spark分布式计算：窗口函数高效技术分析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用户数据隔离设计：每个用户独立搜索记录表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双层安全防护：密码加密</a:t>
            </a:r>
            <a:r>
              <a:rPr dirty="0"/>
              <a:t> + </a:t>
            </a:r>
            <a:r>
              <a:rPr dirty="0" err="1"/>
              <a:t>登录日志审计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功能完整性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数据采集：100% | 数据清洗：100% | 数据分析：100%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数据存储：100% | Web可视化：100% | 用户管理：100%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代码质量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模块化设计</a:t>
            </a:r>
            <a:r>
              <a:rPr dirty="0"/>
              <a:t> ✓ </a:t>
            </a:r>
            <a:r>
              <a:rPr dirty="0" err="1"/>
              <a:t>异常处理</a:t>
            </a:r>
            <a:r>
              <a:rPr dirty="0"/>
              <a:t> ✓ </a:t>
            </a:r>
            <a:r>
              <a:rPr dirty="0" err="1"/>
              <a:t>参数化查询</a:t>
            </a:r>
            <a:r>
              <a:rPr dirty="0"/>
              <a:t> ✓ </a:t>
            </a:r>
            <a:r>
              <a:rPr dirty="0" err="1"/>
              <a:t>详细注释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8997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8. 遇到的问题及解决方案（1）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46" y="735904"/>
            <a:ext cx="11905988" cy="600309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问题1：Spark环境配置困难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解决：设置PYSPARK_PYTHON环境变量，配置worker超时时间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问题2：数据库唯一约束冲突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解决：先检查再插入，或使用REPLACE</a:t>
            </a:r>
            <a:r>
              <a:rPr dirty="0"/>
              <a:t> </a:t>
            </a:r>
            <a:r>
              <a:rPr dirty="0" err="1"/>
              <a:t>INTO语句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问题3：Flask路由endpoint重复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解决：明确指定不同的endpoint名称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问题4：Pandas </a:t>
            </a:r>
            <a:r>
              <a:rPr dirty="0" err="1"/>
              <a:t>read_sql_query参数格式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解决：使用元组而非列表，LIKE参数手动添加通配符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8. 遇到的问题及解决方案（2）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36" y="893111"/>
            <a:ext cx="11768202" cy="5858418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问题5：Windows批处理文件编码问题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解决：使用chcp</a:t>
            </a:r>
            <a:r>
              <a:rPr dirty="0"/>
              <a:t> 65001切换到UTF-8编码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问题6：东方财富网反爬机制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解决：改用Tampermonkey油猴脚本，浏览器环境拦截API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/>
              <a:t>问题7：数据质量问题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解决：IQR方法处理异常值，删除价格为负或零的记录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性能优化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Spark内存配置优化</a:t>
            </a:r>
            <a:r>
              <a:rPr dirty="0"/>
              <a:t> ✓ </a:t>
            </a:r>
            <a:r>
              <a:rPr dirty="0" err="1"/>
              <a:t>数据库索引优化</a:t>
            </a:r>
            <a:r>
              <a:rPr dirty="0"/>
              <a:t> ✓ </a:t>
            </a:r>
            <a:r>
              <a:rPr dirty="0" err="1"/>
              <a:t>前端懒加载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86" y="298755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9. </a:t>
            </a:r>
            <a:r>
              <a:rPr dirty="0" err="1"/>
              <a:t>实验结论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66018"/>
            <a:ext cx="11141901" cy="539322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项目成果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代码行数：3000+ 行 | Python模块：8个核心模块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数据库表：4类数据表 | Web页面：7个HTML模板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API接口：15+ 个 | 分析维度：5大分析模块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0000"/>
                </a:solidFill>
              </a:defRPr>
            </a:pPr>
            <a:r>
              <a:rPr dirty="0" err="1"/>
              <a:t>技术收获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大数据技术栈：Spark核心概念、窗口函数应用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数据工程实践：ETL流程、数据质量管理、特征工程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Web开发技能：Flask框架、RESTful</a:t>
            </a:r>
            <a:r>
              <a:rPr dirty="0"/>
              <a:t> </a:t>
            </a:r>
            <a:r>
              <a:rPr dirty="0" err="1"/>
              <a:t>API、Session管理</a:t>
            </a:r>
            <a:endParaRPr dirty="0"/>
          </a:p>
          <a:p>
            <a:pPr lvl="1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数据库设计：关系型数据库、索引优化、动态表结构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893</Words>
  <Application>Microsoft Office PowerPoint</Application>
  <PresentationFormat>宽屏</PresentationFormat>
  <Paragraphs>207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Spark股票大数据分析系统</vt:lpstr>
      <vt:lpstr>目录</vt:lpstr>
      <vt:lpstr>1. 项目概述 - 开发环境与技术栈</vt:lpstr>
      <vt:lpstr>2. 技术架构 - 整体设计</vt:lpstr>
      <vt:lpstr>3. 核心功能模块 - 项目结构</vt:lpstr>
      <vt:lpstr>3. 核心功能 - 数据采集模块</vt:lpstr>
      <vt:lpstr>3. 核心功能 - 数据预处理模块</vt:lpstr>
      <vt:lpstr>3. 核心功能 - Spark数据分析模块</vt:lpstr>
      <vt:lpstr>4. 数据库设计 - 核心数据表</vt:lpstr>
      <vt:lpstr>5. 数据分析流程 - 完整流水线</vt:lpstr>
      <vt:lpstr>6. Web可视化系统 - 功能模块</vt:lpstr>
      <vt:lpstr>7. 项目特色与亮点</vt:lpstr>
      <vt:lpstr>8. 遇到的问题及解决方案（1）</vt:lpstr>
      <vt:lpstr>8. 遇到的问题及解决方案（2）</vt:lpstr>
      <vt:lpstr>9. 实验结论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shuiyi huang</cp:lastModifiedBy>
  <cp:revision>5</cp:revision>
  <dcterms:created xsi:type="dcterms:W3CDTF">2013-01-27T09:14:16Z</dcterms:created>
  <dcterms:modified xsi:type="dcterms:W3CDTF">2026-06-25T15:45:17Z</dcterms:modified>
  <cp:category/>
</cp:coreProperties>
</file>